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91" r:id="rId2"/>
    <p:sldId id="310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6" r:id="rId13"/>
    <p:sldId id="307" r:id="rId14"/>
    <p:sldId id="308" r:id="rId15"/>
    <p:sldId id="301" r:id="rId16"/>
    <p:sldId id="302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5"/>
    <a:srgbClr val="00629B"/>
    <a:srgbClr val="0066A1"/>
    <a:srgbClr val="CC0033"/>
    <a:srgbClr val="E37222"/>
    <a:srgbClr val="FDC82F"/>
    <a:srgbClr val="69BE28"/>
    <a:srgbClr val="008542"/>
    <a:srgbClr val="6B1F73"/>
    <a:srgbClr val="009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5918"/>
  </p:normalViewPr>
  <p:slideViewPr>
    <p:cSldViewPr snapToGrid="0" snapToObjects="1">
      <p:cViewPr varScale="1">
        <p:scale>
          <a:sx n="104" d="100"/>
          <a:sy n="104" d="100"/>
        </p:scale>
        <p:origin x="749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mit Gupta" userId="18c9df7bdc82cb9f" providerId="LiveId" clId="{9095EF61-676B-4A93-A9E0-B851B4E2F999}"/>
    <pc:docChg chg="modSld">
      <pc:chgData name="Bhumit Gupta" userId="18c9df7bdc82cb9f" providerId="LiveId" clId="{9095EF61-676B-4A93-A9E0-B851B4E2F999}" dt="2025-04-29T08:30:34.704" v="16" actId="6549"/>
      <pc:docMkLst>
        <pc:docMk/>
      </pc:docMkLst>
      <pc:sldChg chg="modSp mod">
        <pc:chgData name="Bhumit Gupta" userId="18c9df7bdc82cb9f" providerId="LiveId" clId="{9095EF61-676B-4A93-A9E0-B851B4E2F999}" dt="2025-04-29T08:30:34.704" v="16" actId="6549"/>
        <pc:sldMkLst>
          <pc:docMk/>
          <pc:sldMk cId="2898077330" sldId="291"/>
        </pc:sldMkLst>
        <pc:spChg chg="mod">
          <ac:chgData name="Bhumit Gupta" userId="18c9df7bdc82cb9f" providerId="LiveId" clId="{9095EF61-676B-4A93-A9E0-B851B4E2F999}" dt="2025-04-29T08:30:34.704" v="16" actId="6549"/>
          <ac:spMkLst>
            <pc:docMk/>
            <pc:sldMk cId="2898077330" sldId="291"/>
            <ac:spMk id="14" creationId="{AFF0F252-6F04-6E84-C3D8-5135806A10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28D45-CD78-E946-97C3-593DC6155472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362D4-5DD5-1441-A093-8EF5773A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8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1.pn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4.png"/><Relationship Id="rId9" Type="http://schemas.openxmlformats.org/officeDocument/2006/relationships/image" Target="../media/image10.jp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4.png"/><Relationship Id="rId9" Type="http://schemas.openxmlformats.org/officeDocument/2006/relationships/image" Target="../media/image1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.png"/><Relationship Id="rId7" Type="http://schemas.openxmlformats.org/officeDocument/2006/relationships/image" Target="../media/image19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.png"/><Relationship Id="rId7" Type="http://schemas.openxmlformats.org/officeDocument/2006/relationships/image" Target="../media/image23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-Photos 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F51B27-D6FD-578D-E914-AB069920A7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-8147"/>
            <a:ext cx="9162286" cy="5143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7C324-6D31-5BDF-AA8A-AF17193D9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 descr="A picture containing art, majorelle blue&#10;&#10;Description automatically generated">
            <a:extLst>
              <a:ext uri="{FF2B5EF4-FFF2-40B4-BE49-F238E27FC236}">
                <a16:creationId xmlns:a16="http://schemas.microsoft.com/office/drawing/2014/main" id="{B1B8847A-AC7A-DD9F-DBDE-21B0F37365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8020" y="374444"/>
            <a:ext cx="9162288" cy="2164536"/>
          </a:xfrm>
          <a:prstGeom prst="rect">
            <a:avLst/>
          </a:prstGeom>
        </p:spPr>
      </p:pic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160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B-Photos 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40C9A8-200B-6071-55EE-30A5E4AA83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8147"/>
            <a:ext cx="9158945" cy="5143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216E6C-2274-86AE-A400-AB3F2796DE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pic>
        <p:nvPicPr>
          <p:cNvPr id="13" name="Picture Placeholder 10" descr="A person and person standing in a server room&#10;&#10;Description automatically generated">
            <a:extLst>
              <a:ext uri="{FF2B5EF4-FFF2-40B4-BE49-F238E27FC236}">
                <a16:creationId xmlns:a16="http://schemas.microsoft.com/office/drawing/2014/main" id="{E2CDE891-37C3-7DA8-CE02-376B7C6F19F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914" b="1914"/>
          <a:stretch>
            <a:fillRect/>
          </a:stretch>
        </p:blipFill>
        <p:spPr>
          <a:xfrm>
            <a:off x="-551" y="506367"/>
            <a:ext cx="1828800" cy="1828800"/>
          </a:xfrm>
          <a:prstGeom prst="rect">
            <a:avLst/>
          </a:prstGeom>
        </p:spPr>
      </p:pic>
      <p:pic>
        <p:nvPicPr>
          <p:cNvPr id="14" name="Picture Placeholder 12" descr="A person and person standing next to a machine&#10;&#10;Description automatically generated">
            <a:extLst>
              <a:ext uri="{FF2B5EF4-FFF2-40B4-BE49-F238E27FC236}">
                <a16:creationId xmlns:a16="http://schemas.microsoft.com/office/drawing/2014/main" id="{AC3379AB-8D10-2BB7-CAB0-CA8421C074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681" r="2681"/>
          <a:stretch>
            <a:fillRect/>
          </a:stretch>
        </p:blipFill>
        <p:spPr>
          <a:xfrm>
            <a:off x="1812458" y="506367"/>
            <a:ext cx="1861485" cy="1831081"/>
          </a:xfrm>
          <a:prstGeom prst="rect">
            <a:avLst/>
          </a:prstGeom>
        </p:spPr>
      </p:pic>
      <p:pic>
        <p:nvPicPr>
          <p:cNvPr id="15" name="Picture Placeholder 16" descr="A person in a wheelchair working on a computer&#10;&#10;Description automatically generated">
            <a:extLst>
              <a:ext uri="{FF2B5EF4-FFF2-40B4-BE49-F238E27FC236}">
                <a16:creationId xmlns:a16="http://schemas.microsoft.com/office/drawing/2014/main" id="{4AB2EF3D-2061-6AB8-2AED-E8950E43FCA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1401" r="1401"/>
          <a:stretch>
            <a:fillRect/>
          </a:stretch>
        </p:blipFill>
        <p:spPr>
          <a:xfrm>
            <a:off x="3674266" y="506367"/>
            <a:ext cx="1817334" cy="1828800"/>
          </a:xfrm>
          <a:prstGeom prst="rect">
            <a:avLst/>
          </a:prstGeom>
        </p:spPr>
      </p:pic>
      <p:pic>
        <p:nvPicPr>
          <p:cNvPr id="16" name="Picture Placeholder 18" descr="A person working on a computer&#10;&#10;Description automatically generated">
            <a:extLst>
              <a:ext uri="{FF2B5EF4-FFF2-40B4-BE49-F238E27FC236}">
                <a16:creationId xmlns:a16="http://schemas.microsoft.com/office/drawing/2014/main" id="{9C157887-8158-B68B-D968-EFE81041397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l="1294" r="1294"/>
          <a:stretch>
            <a:fillRect/>
          </a:stretch>
        </p:blipFill>
        <p:spPr>
          <a:xfrm>
            <a:off x="5493599" y="506367"/>
            <a:ext cx="1837943" cy="1828800"/>
          </a:xfrm>
          <a:prstGeom prst="rect">
            <a:avLst/>
          </a:prstGeom>
        </p:spPr>
      </p:pic>
      <p:pic>
        <p:nvPicPr>
          <p:cNvPr id="17" name="Picture Placeholder 20" descr="A person looking at a screen&#10;&#10;Description automatically generated">
            <a:extLst>
              <a:ext uri="{FF2B5EF4-FFF2-40B4-BE49-F238E27FC236}">
                <a16:creationId xmlns:a16="http://schemas.microsoft.com/office/drawing/2014/main" id="{690CAAAA-DAF1-CE15-5209-33321374416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l="8189" r="8189"/>
          <a:stretch>
            <a:fillRect/>
          </a:stretch>
        </p:blipFill>
        <p:spPr>
          <a:xfrm>
            <a:off x="7322401" y="506367"/>
            <a:ext cx="183654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9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C-Photos 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E20EAB0-9F05-4750-8101-7E1E3E8E2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8147"/>
            <a:ext cx="9158945" cy="51434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A0BA18-E708-72D9-D1C2-D27D846742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pic>
        <p:nvPicPr>
          <p:cNvPr id="5" name="Picture Placeholder 10" descr="A person wearing a hard hat and holding a tablet&#10;&#10;Description automatically generated">
            <a:extLst>
              <a:ext uri="{FF2B5EF4-FFF2-40B4-BE49-F238E27FC236}">
                <a16:creationId xmlns:a16="http://schemas.microsoft.com/office/drawing/2014/main" id="{1983CD9E-58BA-8497-EABE-8AEB7632EE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852" r="1852"/>
          <a:stretch>
            <a:fillRect/>
          </a:stretch>
        </p:blipFill>
        <p:spPr>
          <a:xfrm>
            <a:off x="-551" y="506367"/>
            <a:ext cx="1828800" cy="1828800"/>
          </a:xfrm>
          <a:prstGeom prst="rect">
            <a:avLst/>
          </a:prstGeom>
        </p:spPr>
      </p:pic>
      <p:pic>
        <p:nvPicPr>
          <p:cNvPr id="6" name="Picture Placeholder 12" descr="A computer screen with numbers and lines&#10;&#10;Description automatically generated">
            <a:extLst>
              <a:ext uri="{FF2B5EF4-FFF2-40B4-BE49-F238E27FC236}">
                <a16:creationId xmlns:a16="http://schemas.microsoft.com/office/drawing/2014/main" id="{233133B5-4B0B-6DB8-7727-64E8DF6FA21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t="1691" b="1691"/>
          <a:stretch>
            <a:fillRect/>
          </a:stretch>
        </p:blipFill>
        <p:spPr>
          <a:xfrm>
            <a:off x="1812458" y="506367"/>
            <a:ext cx="1861485" cy="1831081"/>
          </a:xfrm>
          <a:prstGeom prst="rect">
            <a:avLst/>
          </a:prstGeom>
        </p:spPr>
      </p:pic>
      <p:pic>
        <p:nvPicPr>
          <p:cNvPr id="7" name="Picture Placeholder 14" descr="A person in a white coat working on a computer&#10;&#10;Description automatically generated">
            <a:extLst>
              <a:ext uri="{FF2B5EF4-FFF2-40B4-BE49-F238E27FC236}">
                <a16:creationId xmlns:a16="http://schemas.microsoft.com/office/drawing/2014/main" id="{C3704A6D-9A48-FAE2-A984-46EEBD3844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t="1382" b="1382"/>
          <a:stretch>
            <a:fillRect/>
          </a:stretch>
        </p:blipFill>
        <p:spPr>
          <a:xfrm>
            <a:off x="3674266" y="506367"/>
            <a:ext cx="1817334" cy="1828800"/>
          </a:xfrm>
          <a:prstGeom prst="rect">
            <a:avLst/>
          </a:prstGeom>
        </p:spPr>
      </p:pic>
      <p:pic>
        <p:nvPicPr>
          <p:cNvPr id="9" name="Picture Placeholder 16" descr="A digital image of a person's head&#10;&#10;Description automatically generated">
            <a:extLst>
              <a:ext uri="{FF2B5EF4-FFF2-40B4-BE49-F238E27FC236}">
                <a16:creationId xmlns:a16="http://schemas.microsoft.com/office/drawing/2014/main" id="{F062005E-FA08-9FF9-21A3-3FC892EACB1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t="1803" b="1803"/>
          <a:stretch>
            <a:fillRect/>
          </a:stretch>
        </p:blipFill>
        <p:spPr>
          <a:xfrm>
            <a:off x="5493599" y="506367"/>
            <a:ext cx="1837943" cy="1828800"/>
          </a:xfrm>
          <a:prstGeom prst="rect">
            <a:avLst/>
          </a:prstGeom>
        </p:spPr>
      </p:pic>
      <p:pic>
        <p:nvPicPr>
          <p:cNvPr id="11" name="Picture Placeholder 18" descr="A person using a video call&#10;&#10;Description automatically generated">
            <a:extLst>
              <a:ext uri="{FF2B5EF4-FFF2-40B4-BE49-F238E27FC236}">
                <a16:creationId xmlns:a16="http://schemas.microsoft.com/office/drawing/2014/main" id="{D97C07C5-B1A6-B762-9791-82B23BD26EB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l="4356" r="4356"/>
          <a:stretch>
            <a:fillRect/>
          </a:stretch>
        </p:blipFill>
        <p:spPr>
          <a:xfrm>
            <a:off x="7322401" y="506367"/>
            <a:ext cx="183654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9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D-Photos Un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82B7571-5A3F-98B8-2919-54D06E3D57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8147"/>
            <a:ext cx="9158945" cy="5143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AB87A4-5D34-DBF7-15D8-FBAE94E0D5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8553009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5FADBE-3A29-1E95-9C47-935083B27C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551" y="506367"/>
            <a:ext cx="1828800" cy="1828800"/>
          </a:xfr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80A25B10-0BC1-34CB-1AE9-91D80CD073BD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812458" y="506367"/>
            <a:ext cx="1861485" cy="1831081"/>
          </a:xfrm>
          <a:prstGeom prst="rect">
            <a:avLst/>
          </a:prstGeo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87B41E3-9465-5800-4CC3-1599D54B45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74266" y="506367"/>
            <a:ext cx="1817334" cy="1828800"/>
          </a:xfr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5824EB5-3550-BCA0-C7FF-9BD2CA5794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93599" y="506367"/>
            <a:ext cx="1837943" cy="1828800"/>
          </a:xfr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314601B-6241-4ED7-E8F6-B3CB1AF2792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322401" y="506367"/>
            <a:ext cx="1836546" cy="1828800"/>
          </a:xfr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50292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6ACB5-A032-535C-C189-44C3740D5E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-8147"/>
            <a:ext cx="9162286" cy="51434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482E86-2029-C649-0EF8-72FF8C4C22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31D605-ADDB-54A4-FC63-4B1837288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04A8526-DBEB-ABFE-0AA2-2CF6022C45E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2290" y="3088182"/>
            <a:ext cx="8553008" cy="815369"/>
          </a:xfrm>
        </p:spPr>
        <p:txBody>
          <a:bodyPr lIns="0">
            <a:normAutofit/>
          </a:bodyPr>
          <a:lstStyle>
            <a:lvl1pPr marL="0" indent="0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84810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-Photos 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F51B27-D6FD-578D-E914-AB069920A7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8148"/>
            <a:ext cx="9162287" cy="5143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DC6EA-1BC4-04C3-5A19-39AF1D292A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pic>
        <p:nvPicPr>
          <p:cNvPr id="11" name="Picture Placeholder 9" descr="A group of people wearing hard hats and jackets looking at a computer screen&#10;&#10;Description automatically generated">
            <a:extLst>
              <a:ext uri="{FF2B5EF4-FFF2-40B4-BE49-F238E27FC236}">
                <a16:creationId xmlns:a16="http://schemas.microsoft.com/office/drawing/2014/main" id="{971E8037-2F71-478A-7B70-1B9B8BCC4F4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604" r="2604"/>
          <a:stretch>
            <a:fillRect/>
          </a:stretch>
        </p:blipFill>
        <p:spPr>
          <a:xfrm>
            <a:off x="-487630" y="-275587"/>
            <a:ext cx="2633567" cy="2633016"/>
          </a:xfrm>
          <a:prstGeom prst="ellipse">
            <a:avLst/>
          </a:prstGeom>
        </p:spPr>
      </p:pic>
      <p:pic>
        <p:nvPicPr>
          <p:cNvPr id="17" name="Picture Placeholder 17" descr="A group of people in a meeting&#10;&#10;Description automatically generated">
            <a:extLst>
              <a:ext uri="{FF2B5EF4-FFF2-40B4-BE49-F238E27FC236}">
                <a16:creationId xmlns:a16="http://schemas.microsoft.com/office/drawing/2014/main" id="{AE58B03D-17F4-ADE9-3B99-C65A056E853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16626" r="16626"/>
          <a:stretch>
            <a:fillRect/>
          </a:stretch>
        </p:blipFill>
        <p:spPr>
          <a:xfrm>
            <a:off x="7216988" y="432744"/>
            <a:ext cx="1313770" cy="1314045"/>
          </a:xfrm>
          <a:prstGeom prst="ellipse">
            <a:avLst/>
          </a:prstGeom>
        </p:spPr>
      </p:pic>
      <p:pic>
        <p:nvPicPr>
          <p:cNvPr id="18" name="Picture Placeholder 11" descr="A doctor using a virtual reality device&#10;&#10;Description automatically generated">
            <a:extLst>
              <a:ext uri="{FF2B5EF4-FFF2-40B4-BE49-F238E27FC236}">
                <a16:creationId xmlns:a16="http://schemas.microsoft.com/office/drawing/2014/main" id="{53E22AF1-56BB-E6C3-64B5-7E763C07FFA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10503" r="10503"/>
          <a:stretch>
            <a:fillRect/>
          </a:stretch>
        </p:blipFill>
        <p:spPr>
          <a:xfrm>
            <a:off x="3465829" y="-82898"/>
            <a:ext cx="2187948" cy="2187491"/>
          </a:xfrm>
          <a:prstGeom prst="ellipse">
            <a:avLst/>
          </a:prstGeom>
        </p:spPr>
      </p:pic>
      <p:pic>
        <p:nvPicPr>
          <p:cNvPr id="19" name="Picture Placeholder 15">
            <a:extLst>
              <a:ext uri="{FF2B5EF4-FFF2-40B4-BE49-F238E27FC236}">
                <a16:creationId xmlns:a16="http://schemas.microsoft.com/office/drawing/2014/main" id="{5E53593A-3F8C-932A-59F0-DFBE45383AA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l="8941" r="8941"/>
          <a:stretch/>
        </p:blipFill>
        <p:spPr>
          <a:xfrm>
            <a:off x="7445518" y="2009789"/>
            <a:ext cx="1888036" cy="188803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431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B-Photos 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545542-F34C-4B8A-C251-D014E75FF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8148"/>
            <a:ext cx="9152019" cy="51434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131DA0-FAC9-2833-A436-BFA92F7240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90" y="2581643"/>
            <a:ext cx="7022970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pic>
        <p:nvPicPr>
          <p:cNvPr id="5" name="Picture Placeholder 9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6B0AB2CF-1496-60EB-9749-1F18FBB1886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559" r="3559"/>
          <a:stretch>
            <a:fillRect/>
          </a:stretch>
        </p:blipFill>
        <p:spPr>
          <a:xfrm>
            <a:off x="-487630" y="-275587"/>
            <a:ext cx="2633567" cy="2633016"/>
          </a:xfrm>
          <a:prstGeom prst="ellipse">
            <a:avLst/>
          </a:prstGeom>
        </p:spPr>
      </p:pic>
      <p:pic>
        <p:nvPicPr>
          <p:cNvPr id="6" name="Picture Placeholder 13" descr="A hand touching a sphere&#10;&#10;Description automatically generated">
            <a:extLst>
              <a:ext uri="{FF2B5EF4-FFF2-40B4-BE49-F238E27FC236}">
                <a16:creationId xmlns:a16="http://schemas.microsoft.com/office/drawing/2014/main" id="{61393A28-42FE-4220-C6F9-FEA637B7AA1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t="319" b="319"/>
          <a:stretch>
            <a:fillRect/>
          </a:stretch>
        </p:blipFill>
        <p:spPr>
          <a:xfrm>
            <a:off x="7216988" y="432744"/>
            <a:ext cx="1313770" cy="1314045"/>
          </a:xfrm>
          <a:prstGeom prst="ellipse">
            <a:avLst/>
          </a:prstGeom>
        </p:spPr>
      </p:pic>
      <p:pic>
        <p:nvPicPr>
          <p:cNvPr id="7" name="Picture Placeholder 11" descr="A person and person wearing safety vests and helmets looking at a computer&#10;&#10;Description automatically generated">
            <a:extLst>
              <a:ext uri="{FF2B5EF4-FFF2-40B4-BE49-F238E27FC236}">
                <a16:creationId xmlns:a16="http://schemas.microsoft.com/office/drawing/2014/main" id="{F9AC9626-6C9B-4881-5579-DBB2A1D39B1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t="1020" b="1020"/>
          <a:stretch>
            <a:fillRect/>
          </a:stretch>
        </p:blipFill>
        <p:spPr>
          <a:xfrm>
            <a:off x="3465829" y="-82898"/>
            <a:ext cx="2187948" cy="2187491"/>
          </a:xfrm>
          <a:prstGeom prst="ellipse">
            <a:avLst/>
          </a:prstGeom>
        </p:spPr>
      </p:pic>
      <p:pic>
        <p:nvPicPr>
          <p:cNvPr id="9" name="Picture Placeholder 15" descr="A person wearing a white hard hat and white shirt&#10;&#10;Description automatically generated">
            <a:extLst>
              <a:ext uri="{FF2B5EF4-FFF2-40B4-BE49-F238E27FC236}">
                <a16:creationId xmlns:a16="http://schemas.microsoft.com/office/drawing/2014/main" id="{39DEC6CB-EC87-7831-0461-99EF2191532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 l="4783" r="4783"/>
          <a:stretch>
            <a:fillRect/>
          </a:stretch>
        </p:blipFill>
        <p:spPr>
          <a:xfrm>
            <a:off x="7445518" y="2009789"/>
            <a:ext cx="1888036" cy="188803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1557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C-Photos Unlo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A78E2A-D661-BFA6-DB68-7536AA89AE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8148"/>
            <a:ext cx="9162287" cy="5143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C6AF0-FF34-187B-BA5E-4E9E09E800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2289" y="2581643"/>
            <a:ext cx="7022971" cy="940768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 algn="l"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2290" y="3557482"/>
            <a:ext cx="7022970" cy="874829"/>
          </a:xfrm>
        </p:spPr>
        <p:txBody>
          <a:bodyPr lIns="0">
            <a:normAutofit/>
          </a:bodyPr>
          <a:lstStyle>
            <a:lvl1pPr marL="0" indent="0" algn="l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Subhead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41B942C3-F0D0-0FE4-55A4-3280FC67B60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87630" y="-275587"/>
            <a:ext cx="2633567" cy="2633016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561BD8F-E829-81AE-998B-EC8728C4940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16988" y="432744"/>
            <a:ext cx="1313770" cy="1314045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9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0E25509-AA47-5110-4AD7-580DBFBBD0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65829" y="-82898"/>
            <a:ext cx="2187948" cy="218749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049B42D-8691-6A46-0F68-FF26C528C56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45518" y="2009789"/>
            <a:ext cx="1888036" cy="1888036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rmAutofit/>
          </a:bodyPr>
          <a:lstStyle>
            <a:lvl1pPr marL="123825" indent="0" algn="ctr">
              <a:buNone/>
              <a:defRPr sz="1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41535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C6F44-660A-B745-91FF-45D342C7A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8148"/>
            <a:ext cx="9162287" cy="51434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9C8966-6876-32BB-6CC2-8B5303ED06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pic>
        <p:nvPicPr>
          <p:cNvPr id="20" name="Google Shape;20;p2">
            <a:extLst>
              <a:ext uri="{FF2B5EF4-FFF2-40B4-BE49-F238E27FC236}">
                <a16:creationId xmlns:a16="http://schemas.microsoft.com/office/drawing/2014/main" id="{BF545E2E-7AE8-E079-68E5-B4BBF718412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7613960" y="4131398"/>
            <a:ext cx="1221339" cy="68167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300B2-530C-FA4A-A0D1-243431B9E26B}"/>
              </a:ext>
            </a:extLst>
          </p:cNvPr>
          <p:cNvSpPr txBox="1"/>
          <p:nvPr userDrawn="1"/>
        </p:nvSpPr>
        <p:spPr>
          <a:xfrm>
            <a:off x="814401" y="4654044"/>
            <a:ext cx="83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62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ieee.org</a:t>
            </a:r>
            <a:endParaRPr lang="en-US" sz="1100" b="1" dirty="0">
              <a:solidFill>
                <a:srgbClr val="00629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Google Shape;15;p1">
            <a:extLst>
              <a:ext uri="{FF2B5EF4-FFF2-40B4-BE49-F238E27FC236}">
                <a16:creationId xmlns:a16="http://schemas.microsoft.com/office/drawing/2014/main" id="{52320A1D-5125-B302-1636-C48D547566D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31D605-ADDB-54A4-FC63-4B18372882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002971"/>
            <a:ext cx="8553009" cy="1064971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>
              <a:defRPr sz="3300" i="0"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Divider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04A8526-DBEB-ABFE-0AA2-2CF6022C45E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2290" y="3088182"/>
            <a:ext cx="8553008" cy="815369"/>
          </a:xfrm>
        </p:spPr>
        <p:txBody>
          <a:bodyPr lIns="0">
            <a:normAutofit/>
          </a:bodyPr>
          <a:lstStyle>
            <a:lvl1pPr marL="0" indent="0">
              <a:buNone/>
              <a:defRPr sz="21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80516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2289" y="1247412"/>
            <a:ext cx="8658713" cy="3092113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EF7957-62A6-2F32-40BC-75E462878F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528E7C2-CE3F-EE06-4447-2CB3BC3EAE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8534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282288" y="1242334"/>
            <a:ext cx="4234053" cy="3112690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91046" y="1242334"/>
            <a:ext cx="4234053" cy="3112690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AF5401-247A-20C7-3264-A18311DFA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C384FD7-4A7D-5268-62F7-93283DA102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735858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90591" y="1245233"/>
            <a:ext cx="4250410" cy="3094292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89" y="1245232"/>
            <a:ext cx="4227717" cy="3094119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6AD83B-8216-5397-EEB8-FF133C3E7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A02FAF8-5E04-CFFE-9019-473F325D7C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407120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8237" y="2875597"/>
            <a:ext cx="4252764" cy="1479427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0" y="1245232"/>
            <a:ext cx="4252764" cy="3109792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88237" y="1245231"/>
            <a:ext cx="4252764" cy="1479427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792650-E2E9-3B3D-B60F-CA3A69788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7B7DA4B-4D12-6662-3315-7423CCA6909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55144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5745" y="2269344"/>
            <a:ext cx="4255255" cy="2085680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0" y="1245232"/>
            <a:ext cx="4235466" cy="3109792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85745" y="1245232"/>
            <a:ext cx="4255255" cy="901283"/>
          </a:xfrm>
        </p:spPr>
        <p:txBody>
          <a:bodyPr lIns="0"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1B004A-409A-77D5-A3C7-281C87808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B1E50B4-EB39-89B0-9C6E-A2B502C12D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59754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5920" y="1245687"/>
            <a:ext cx="4231835" cy="3109338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687855" y="2269504"/>
            <a:ext cx="4253146" cy="2085521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87855" y="1252982"/>
            <a:ext cx="4253146" cy="885784"/>
          </a:xfrm>
        </p:spPr>
        <p:txBody>
          <a:bodyPr lIns="0"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F6E064-8914-FCD2-7B22-B9DD9D169E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F514186-64D2-D79F-5790-B5B2D99DE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E3151-C814-8D51-B7C9-E0368224CE31}"/>
              </a:ext>
            </a:extLst>
          </p:cNvPr>
          <p:cNvSpPr txBox="1"/>
          <p:nvPr userDrawn="1"/>
        </p:nvSpPr>
        <p:spPr>
          <a:xfrm>
            <a:off x="7361695" y="1782305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14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07473" y="2921431"/>
            <a:ext cx="4210281" cy="1422069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0" y="1252981"/>
            <a:ext cx="4210280" cy="1439405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707473" y="1269541"/>
            <a:ext cx="4210281" cy="1422069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282290" y="2921431"/>
            <a:ext cx="4210280" cy="1422069"/>
          </a:xfrm>
        </p:spPr>
        <p:txBody>
          <a:bodyPr/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B2AA21-5DC4-EF2E-F110-447171121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3B2B563-ED51-2E79-84DE-879842AE1C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5960082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1" y="1252981"/>
            <a:ext cx="3019523" cy="3102042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3443216" y="1252980"/>
            <a:ext cx="5497785" cy="3102043"/>
          </a:xfrm>
        </p:spPr>
        <p:txBody>
          <a:bodyPr>
            <a:normAutofit/>
          </a:bodyPr>
          <a:lstStyle>
            <a:lvl1pPr marL="0" indent="0">
              <a:buNone/>
              <a:defRPr sz="900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304CB7-3AA2-3202-B580-2B5C69FB9F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57C2D4C-BD60-59E9-69C3-E21B448188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407724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705535" y="1245231"/>
            <a:ext cx="4235466" cy="3109791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2290" y="3591612"/>
            <a:ext cx="4235466" cy="763411"/>
          </a:xfrm>
        </p:spPr>
        <p:txBody>
          <a:bodyPr lIns="0">
            <a:no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282290" y="1245232"/>
            <a:ext cx="4235466" cy="2222393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A2468D8-7183-0FC6-538D-BB28C6C21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D22E6AC-1D68-1A62-895E-D1CC0C4F3D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838955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E4219F-8A77-4012-6E77-CCFCA3695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E34E679-CD0B-16C4-E8EE-14DDEBE54E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B60127-67C7-F66A-23F8-A934B721F883}"/>
              </a:ext>
            </a:extLst>
          </p:cNvPr>
          <p:cNvSpPr txBox="1"/>
          <p:nvPr userDrawn="1"/>
        </p:nvSpPr>
        <p:spPr>
          <a:xfrm>
            <a:off x="1066800" y="431800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04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89" y="2128100"/>
            <a:ext cx="8658711" cy="1604915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2289" y="1253847"/>
            <a:ext cx="8658711" cy="758882"/>
          </a:xfrm>
        </p:spPr>
        <p:txBody>
          <a:bodyPr lIns="0">
            <a:norm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2289" y="3810504"/>
            <a:ext cx="8658711" cy="544519"/>
          </a:xfrm>
        </p:spPr>
        <p:txBody>
          <a:bodyPr lIns="0">
            <a:normAutofit/>
          </a:bodyPr>
          <a:lstStyle>
            <a:lvl1pPr marL="0" indent="0">
              <a:buNone/>
              <a:defRPr sz="1500" b="1" i="1">
                <a:solidFill>
                  <a:srgbClr val="00629B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03909E-FD8C-20E1-141E-744AE8D3F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noProof="0" dirty="0"/>
              <a:t>Topic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8408872-713C-D7D4-6C0F-6707249D2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327891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0" y="3138935"/>
            <a:ext cx="4289710" cy="1208828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2289" y="1245232"/>
            <a:ext cx="8658711" cy="1457025"/>
          </a:xfrm>
        </p:spPr>
        <p:txBody>
          <a:bodyPr lIns="0" numCol="2" spcCol="274320">
            <a:normAutofit/>
          </a:bodyPr>
          <a:lstStyle>
            <a:lvl1pPr marL="0" indent="0">
              <a:buNone/>
              <a:defRPr sz="150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722970" y="3138934"/>
            <a:ext cx="4218030" cy="1208829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101C7A-858B-1E2B-83E0-2582C72145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3388630-5250-47EC-8C4D-75D3558871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662224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82290" y="1252981"/>
            <a:ext cx="4970872" cy="2165833"/>
          </a:xfrm>
        </p:spPr>
        <p:txBody>
          <a:bodyPr/>
          <a:lstStyle>
            <a:lvl1pPr>
              <a:buClr>
                <a:srgbClr val="00629B"/>
              </a:buClr>
              <a:defRPr/>
            </a:lvl1pPr>
            <a:lvl2pPr>
              <a:buClr>
                <a:srgbClr val="00629B"/>
              </a:buClr>
              <a:defRPr/>
            </a:lvl2pPr>
            <a:lvl3pPr>
              <a:buClr>
                <a:srgbClr val="00629B"/>
              </a:buClr>
              <a:defRPr/>
            </a:lvl3pPr>
            <a:lvl4pPr>
              <a:buClr>
                <a:srgbClr val="00629B"/>
              </a:buClr>
              <a:defRPr/>
            </a:lvl4pPr>
            <a:lvl5pPr>
              <a:buClr>
                <a:srgbClr val="00629B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82290" y="3535051"/>
            <a:ext cx="4970872" cy="819973"/>
          </a:xfrm>
        </p:spPr>
        <p:txBody>
          <a:bodyPr lIns="0">
            <a:normAutofit/>
          </a:bodyPr>
          <a:lstStyle>
            <a:lvl1pPr marL="0" indent="0">
              <a:buNone/>
              <a:defRPr sz="1500" b="1">
                <a:solidFill>
                  <a:srgbClr val="00629B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5366283" y="1252982"/>
            <a:ext cx="3574718" cy="3102042"/>
          </a:xfrm>
        </p:spPr>
        <p:txBody>
          <a:bodyPr>
            <a:normAutofit/>
          </a:bodyPr>
          <a:lstStyle>
            <a:lvl1pPr marL="0" indent="0">
              <a:buNone/>
              <a:defRPr sz="900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1788BA-926E-34CC-7A52-44AE3BA95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289" y="245650"/>
            <a:ext cx="8658712" cy="42566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00629B"/>
                </a:solidFill>
              </a:defRPr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91E58F-B24D-1552-AAE8-A8CA5C5411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2288" y="710787"/>
            <a:ext cx="8658713" cy="329802"/>
          </a:xfrm>
        </p:spPr>
        <p:txBody>
          <a:bodyPr lIns="0">
            <a:noAutofit/>
          </a:bodyPr>
          <a:lstStyle>
            <a:lvl1pPr marL="0" indent="0">
              <a:buNone/>
              <a:defRPr sz="1800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</p:spTree>
    <p:extLst>
      <p:ext uri="{BB962C8B-B14F-4D97-AF65-F5344CB8AC3E}">
        <p14:creationId xmlns:p14="http://schemas.microsoft.com/office/powerpoint/2010/main" val="181011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870F23-6C4F-9DDF-447A-8A004AE244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r="26619"/>
          <a:stretch/>
        </p:blipFill>
        <p:spPr>
          <a:xfrm rot="10800000">
            <a:off x="0" y="-2"/>
            <a:ext cx="9148840" cy="532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4C326D-E901-03B5-EA3B-3BC78E5A3B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r="26619"/>
          <a:stretch/>
        </p:blipFill>
        <p:spPr>
          <a:xfrm>
            <a:off x="-8020" y="4616809"/>
            <a:ext cx="9162288" cy="5326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289" y="1163977"/>
            <a:ext cx="8646555" cy="3030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4"/>
          </p:nvPr>
        </p:nvSpPr>
        <p:spPr>
          <a:xfrm>
            <a:off x="282290" y="4654044"/>
            <a:ext cx="4866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002855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694" y="4502874"/>
            <a:ext cx="851311" cy="248583"/>
          </a:xfrm>
          <a:prstGeom prst="rect">
            <a:avLst/>
          </a:prstGeom>
        </p:spPr>
      </p:pic>
      <p:sp>
        <p:nvSpPr>
          <p:cNvPr id="9" name="Google Shape;15;p1">
            <a:extLst>
              <a:ext uri="{FF2B5EF4-FFF2-40B4-BE49-F238E27FC236}">
                <a16:creationId xmlns:a16="http://schemas.microsoft.com/office/drawing/2014/main" id="{5F028249-8526-C24F-DC97-781076A629BC}"/>
              </a:ext>
            </a:extLst>
          </p:cNvPr>
          <p:cNvSpPr txBox="1"/>
          <p:nvPr userDrawn="1"/>
        </p:nvSpPr>
        <p:spPr>
          <a:xfrm>
            <a:off x="0" y="4961588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C7EAFB"/>
                </a:solidFill>
                <a:latin typeface="Calibri"/>
                <a:ea typeface="Calibri"/>
                <a:cs typeface="Calibri"/>
                <a:sym typeface="Calibri"/>
              </a:rPr>
              <a:t>The professional home for the engineering and technology community worldwide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D7628-BB4B-9FA6-9AFA-DA6FF4866DB2}"/>
              </a:ext>
            </a:extLst>
          </p:cNvPr>
          <p:cNvSpPr txBox="1"/>
          <p:nvPr userDrawn="1"/>
        </p:nvSpPr>
        <p:spPr>
          <a:xfrm>
            <a:off x="618371" y="447332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5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2" r:id="rId2"/>
    <p:sldLayoutId id="2147483693" r:id="rId3"/>
    <p:sldLayoutId id="2147483691" r:id="rId4"/>
    <p:sldLayoutId id="2147483694" r:id="rId5"/>
    <p:sldLayoutId id="2147483696" r:id="rId6"/>
    <p:sldLayoutId id="2147483697" r:id="rId7"/>
    <p:sldLayoutId id="2147483695" r:id="rId8"/>
    <p:sldLayoutId id="2147483698" r:id="rId9"/>
    <p:sldLayoutId id="2147483662" r:id="rId10"/>
    <p:sldLayoutId id="2147483675" r:id="rId11"/>
    <p:sldLayoutId id="2147483664" r:id="rId12"/>
    <p:sldLayoutId id="2147483674" r:id="rId13"/>
    <p:sldLayoutId id="2147483665" r:id="rId14"/>
    <p:sldLayoutId id="2147483676" r:id="rId15"/>
    <p:sldLayoutId id="2147483677" r:id="rId16"/>
    <p:sldLayoutId id="2147483678" r:id="rId17"/>
    <p:sldLayoutId id="2147483679" r:id="rId18"/>
    <p:sldLayoutId id="2147483667" r:id="rId19"/>
    <p:sldLayoutId id="2147483680" r:id="rId20"/>
    <p:sldLayoutId id="2147483682" r:id="rId21"/>
    <p:sldLayoutId id="2147483681" r:id="rId2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>
          <a:solidFill>
            <a:srgbClr val="0066A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629B"/>
        </a:buClr>
        <a:buFont typeface="LucidaGrande" charset="0"/>
        <a:buChar char="▸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29B"/>
        </a:buClr>
        <a:buFont typeface="LucidaGrande" charset="0"/>
        <a:buChar char="-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29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29B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629B"/>
        </a:buClr>
        <a:buFont typeface="Courier New" charset="0"/>
        <a:buChar char="o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nextmove.org/vets/profile/summary/29-1041.00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817F-E193-2E73-E268-F152CE996F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F0F252-6F04-6E84-C3D8-5135806A1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476" y="331261"/>
            <a:ext cx="8813109" cy="1034627"/>
          </a:xfrm>
        </p:spPr>
        <p:txBody>
          <a:bodyPr>
            <a:noAutofit/>
          </a:bodyPr>
          <a:lstStyle/>
          <a:p>
            <a:r>
              <a:rPr lang="en-US" sz="3200" i="0" u="none" strike="noStrike" baseline="0" dirty="0">
                <a:solidFill>
                  <a:srgbClr val="002855"/>
                </a:solidFill>
                <a:latin typeface="NimbusRomNo9L-Regu"/>
              </a:rPr>
              <a:t>Paper Id 1140:</a:t>
            </a:r>
            <a:br>
              <a:rPr lang="en-US" sz="3200" i="0" u="none" strike="noStrike" baseline="0">
                <a:solidFill>
                  <a:srgbClr val="002855"/>
                </a:solidFill>
                <a:latin typeface="NimbusRomNo9L-Regu"/>
              </a:rPr>
            </a:br>
            <a:r>
              <a:rPr lang="en-US" sz="3200" i="0" u="none" strike="noStrike" baseline="0">
                <a:solidFill>
                  <a:srgbClr val="002855"/>
                </a:solidFill>
                <a:latin typeface="NimbusRomNo9L-Regu"/>
              </a:rPr>
              <a:t> </a:t>
            </a:r>
            <a:r>
              <a:rPr lang="en-US" sz="3200" i="0" u="none" strike="noStrike" baseline="0" dirty="0">
                <a:solidFill>
                  <a:srgbClr val="002855"/>
                </a:solidFill>
                <a:latin typeface="NimbusRomNo9L-Regu"/>
              </a:rPr>
              <a:t>Enhancing Strabismus Diagnosis</a:t>
            </a:r>
            <a:r>
              <a:rPr lang="en-US" sz="3200" dirty="0">
                <a:solidFill>
                  <a:srgbClr val="002855"/>
                </a:solidFill>
                <a:latin typeface="NimbusRomNo9L-Regu"/>
              </a:rPr>
              <a:t>:</a:t>
            </a:r>
            <a:r>
              <a:rPr lang="en-US" sz="3200" i="0" u="none" strike="noStrike" baseline="0" dirty="0">
                <a:solidFill>
                  <a:srgbClr val="002855"/>
                </a:solidFill>
                <a:latin typeface="NimbusRomNo9L-Regu"/>
              </a:rPr>
              <a:t> from Detection to</a:t>
            </a:r>
            <a:br>
              <a:rPr lang="en-US" sz="3200" i="0" u="none" strike="noStrike" baseline="0" dirty="0">
                <a:solidFill>
                  <a:srgbClr val="002855"/>
                </a:solidFill>
                <a:latin typeface="NimbusRomNo9L-Regu"/>
              </a:rPr>
            </a:br>
            <a:r>
              <a:rPr lang="en-IN" sz="3200" i="0" u="none" strike="noStrike" baseline="0" dirty="0">
                <a:solidFill>
                  <a:srgbClr val="002855"/>
                </a:solidFill>
                <a:latin typeface="NimbusRomNo9L-Regu"/>
              </a:rPr>
              <a:t>Classification with Deep Learning</a:t>
            </a:r>
            <a:endParaRPr lang="en-US" sz="4400" dirty="0">
              <a:solidFill>
                <a:srgbClr val="002855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15DA292-52A2-2135-38A7-61CD6A9A5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374" y="1789938"/>
            <a:ext cx="2715601" cy="1651328"/>
          </a:xfrm>
        </p:spPr>
        <p:txBody>
          <a:bodyPr>
            <a:normAutofit/>
          </a:bodyPr>
          <a:lstStyle/>
          <a:p>
            <a:r>
              <a:rPr lang="en-IN" dirty="0"/>
              <a:t>Bhumit Gupta</a:t>
            </a:r>
          </a:p>
          <a:p>
            <a:r>
              <a:rPr lang="en-IN" dirty="0"/>
              <a:t>Madhav Arora </a:t>
            </a:r>
          </a:p>
          <a:p>
            <a:r>
              <a:rPr lang="en-IN" dirty="0"/>
              <a:t>Shubh Garg</a:t>
            </a:r>
          </a:p>
          <a:p>
            <a:r>
              <a:rPr lang="en-IN" dirty="0"/>
              <a:t>Dr. Debabrata Ghosh</a:t>
            </a:r>
          </a:p>
          <a:p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1F5762-DA27-2D1C-0E3F-87BEF4E6E440}"/>
              </a:ext>
            </a:extLst>
          </p:cNvPr>
          <p:cNvSpPr txBox="1"/>
          <p:nvPr/>
        </p:nvSpPr>
        <p:spPr>
          <a:xfrm>
            <a:off x="17438" y="3986778"/>
            <a:ext cx="467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629B"/>
                </a:solidFill>
                <a:latin typeface="NimbusRomNo9L-Regu"/>
                <a:cs typeface="Calibri" charset="0"/>
              </a:rPr>
              <a:t>Thapar Institute of Engineering and Technology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FE05EEE-5E39-7AA9-5041-EABC1AA4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079" y="232997"/>
            <a:ext cx="4677506" cy="467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077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70CE5-4E10-619E-0DF8-77DE3C782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017" y="2034774"/>
            <a:ext cx="7022971" cy="940768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A23F6-5C77-C09D-011C-B22A91092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018" y="3039953"/>
            <a:ext cx="7022970" cy="1308749"/>
          </a:xfrm>
        </p:spPr>
        <p:txBody>
          <a:bodyPr>
            <a:normAutofit fontScale="62500" lnSpcReduction="20000"/>
          </a:bodyPr>
          <a:lstStyle/>
          <a:p>
            <a:r>
              <a:rPr lang="en-US" sz="2900" dirty="0"/>
              <a:t>Accurate and early diagnosis of strabismus is essential to prevent visual impairment. This work proposes a deep learning framework using CNNs (EfficientNetB7, ResNet50, VGG19, </a:t>
            </a:r>
            <a:r>
              <a:rPr lang="en-US" sz="2900" dirty="0" err="1"/>
              <a:t>AlexNet</a:t>
            </a:r>
            <a:r>
              <a:rPr lang="en-US" sz="2900" dirty="0"/>
              <a:t>) to classify strabismus into five categories. EfficientNetB7 achieved the highest accuracy. The study supports the use of AI in ophthalmology for consistent and scalable diagnosis.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6817F-E193-2E73-E268-F152CE996FC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4674633-5D62-D1CA-2C41-3D2597031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41" b="441"/>
          <a:stretch>
            <a:fillRect/>
          </a:stretch>
        </p:blipFill>
        <p:spPr>
          <a:xfrm>
            <a:off x="282576" y="92076"/>
            <a:ext cx="2207028" cy="2187576"/>
          </a:xfr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E8014EA9-6429-63EE-1579-0D9AE724D4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6719" r="16719"/>
          <a:stretch>
            <a:fillRect/>
          </a:stretch>
        </p:blipFill>
        <p:spPr>
          <a:xfrm>
            <a:off x="6900863" y="381000"/>
            <a:ext cx="1312862" cy="1314450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AE3BC50-98CA-C02A-6419-8326C19ACA9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12579" r="12579"/>
          <a:stretch>
            <a:fillRect/>
          </a:stretch>
        </p:blipFill>
        <p:spPr>
          <a:xfrm>
            <a:off x="3478213" y="225425"/>
            <a:ext cx="2078525" cy="2078525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A3CB9C2-0C71-DBAC-FDCB-58013A272B2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l="21272" r="21272"/>
          <a:stretch>
            <a:fillRect/>
          </a:stretch>
        </p:blipFill>
        <p:spPr>
          <a:xfrm>
            <a:off x="7256464" y="1960564"/>
            <a:ext cx="1746274" cy="1746274"/>
          </a:xfrm>
        </p:spPr>
      </p:pic>
    </p:spTree>
    <p:extLst>
      <p:ext uri="{BB962C8B-B14F-4D97-AF65-F5344CB8AC3E}">
        <p14:creationId xmlns:p14="http://schemas.microsoft.com/office/powerpoint/2010/main" val="1389477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C5FB43-9748-8215-8AB2-476F78ED85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11AB24-35AD-3710-8D41-E21FC264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9" y="174978"/>
            <a:ext cx="8553009" cy="1064971"/>
          </a:xfrm>
        </p:spPr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E25C-F287-AD06-610F-BAE3F6A4E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289" y="1432591"/>
            <a:ext cx="5248356" cy="2519977"/>
          </a:xfrm>
        </p:spPr>
        <p:txBody>
          <a:bodyPr>
            <a:normAutofit/>
          </a:bodyPr>
          <a:lstStyle/>
          <a:p>
            <a:r>
              <a:rPr lang="en-US" dirty="0"/>
              <a:t>Strabismus is a misalignment of the eyes, impacting vision and quality of life. Traditional methods are subjective and require expertise. AI offers objective, scalable solutions for automated diagnosis.</a:t>
            </a:r>
          </a:p>
          <a:p>
            <a:endParaRPr lang="en-US" dirty="0"/>
          </a:p>
        </p:txBody>
      </p:sp>
      <p:pic>
        <p:nvPicPr>
          <p:cNvPr id="2050" name="Picture 2" descr="Strabismus in children and adults">
            <a:extLst>
              <a:ext uri="{FF2B5EF4-FFF2-40B4-BE49-F238E27FC236}">
                <a16:creationId xmlns:a16="http://schemas.microsoft.com/office/drawing/2014/main" id="{DC02F0A5-3615-5780-8707-0D19C18D3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773" y="280898"/>
            <a:ext cx="2264073" cy="367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941451-AC14-6CE1-D922-E522808016A8}"/>
              </a:ext>
            </a:extLst>
          </p:cNvPr>
          <p:cNvSpPr txBox="1"/>
          <p:nvPr/>
        </p:nvSpPr>
        <p:spPr>
          <a:xfrm>
            <a:off x="6080760" y="3990668"/>
            <a:ext cx="1922766" cy="246812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IN" sz="700" dirty="0"/>
              <a:t>Fig: Strabismus &amp; its 5 Classes</a:t>
            </a:r>
          </a:p>
        </p:txBody>
      </p:sp>
    </p:spTree>
    <p:extLst>
      <p:ext uri="{BB962C8B-B14F-4D97-AF65-F5344CB8AC3E}">
        <p14:creationId xmlns:p14="http://schemas.microsoft.com/office/powerpoint/2010/main" val="292435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B86FDC-B016-6C34-6766-31AAB9BD97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2290" y="1247412"/>
            <a:ext cx="5019756" cy="309211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Manual diagnosis of strabismus is time-consuming, subjective, and lacks scalability. There is a need for an automated, objective, and accurate classification system to aid ophthalmologists in real-world settings.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AAC110-1B19-1EF0-BEEF-42DF3038A7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55D1A3-3224-1367-6A1A-59A739AA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90" y="591140"/>
            <a:ext cx="8658712" cy="425669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pic>
        <p:nvPicPr>
          <p:cNvPr id="3074" name="Picture 2" descr="Automated strabismus detection and classification using deep learning  analysis of facial images | Scientific Reports">
            <a:extLst>
              <a:ext uri="{FF2B5EF4-FFF2-40B4-BE49-F238E27FC236}">
                <a16:creationId xmlns:a16="http://schemas.microsoft.com/office/drawing/2014/main" id="{2ACDF6CB-AAF1-18BA-D5C1-AB9292655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8" r="13999"/>
          <a:stretch/>
        </p:blipFill>
        <p:spPr bwMode="auto">
          <a:xfrm>
            <a:off x="5574891" y="1247412"/>
            <a:ext cx="3085892" cy="2535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4C58B5-EA9B-1DB9-9773-EACCA301DAC0}"/>
              </a:ext>
            </a:extLst>
          </p:cNvPr>
          <p:cNvSpPr txBox="1"/>
          <p:nvPr/>
        </p:nvSpPr>
        <p:spPr>
          <a:xfrm>
            <a:off x="6304935" y="3945194"/>
            <a:ext cx="1909917" cy="6837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800" dirty="0"/>
              <a:t>Fig:1 Strabismus  Detection with Scales</a:t>
            </a:r>
          </a:p>
        </p:txBody>
      </p:sp>
    </p:spTree>
    <p:extLst>
      <p:ext uri="{BB962C8B-B14F-4D97-AF65-F5344CB8AC3E}">
        <p14:creationId xmlns:p14="http://schemas.microsoft.com/office/powerpoint/2010/main" val="38551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28017A-816B-075C-D4A6-D277DC8BCA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IN" sz="2400" dirty="0"/>
              <a:t>Traditional methods: Hirschberg test, cover test – require expert supervision. Deep learning models (Zheng et al., Lu et al.) show promise but focus mainly on binary classification. Our work enhances multi-class classification for five strabismus types.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4C3BB-6E78-1D97-A4E4-600F8AD63FA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72D332-7AFA-3A1A-D5C8-2E02531B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7C2770-B1AC-97E1-5FB5-78C74EF15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21484" y="2798679"/>
            <a:ext cx="3078748" cy="17317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CF4E31-671E-D294-6DCA-4809BE9E0CF1}"/>
              </a:ext>
            </a:extLst>
          </p:cNvPr>
          <p:cNvSpPr txBox="1"/>
          <p:nvPr/>
        </p:nvSpPr>
        <p:spPr>
          <a:xfrm>
            <a:off x="5478853" y="4522383"/>
            <a:ext cx="2481737" cy="2308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900" dirty="0"/>
              <a:t>Fig: Detection using scales</a:t>
            </a:r>
          </a:p>
        </p:txBody>
      </p:sp>
      <p:pic>
        <p:nvPicPr>
          <p:cNvPr id="4098" name="Picture 2" descr="Strabismus - SEE International">
            <a:extLst>
              <a:ext uri="{FF2B5EF4-FFF2-40B4-BE49-F238E27FC236}">
                <a16:creationId xmlns:a16="http://schemas.microsoft.com/office/drawing/2014/main" id="{B33E9287-6C92-4977-3739-AEAA3F9DF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298" y="245650"/>
            <a:ext cx="3068934" cy="204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E6CE64-8933-AC0D-72AD-93B8BC4125CA}"/>
              </a:ext>
            </a:extLst>
          </p:cNvPr>
          <p:cNvSpPr txBox="1"/>
          <p:nvPr/>
        </p:nvSpPr>
        <p:spPr>
          <a:xfrm>
            <a:off x="5319989" y="2344821"/>
            <a:ext cx="2481737" cy="2308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IN" sz="900" dirty="0"/>
              <a:t>Fig: Strabismus Detection with Prism</a:t>
            </a:r>
          </a:p>
        </p:txBody>
      </p:sp>
    </p:spTree>
    <p:extLst>
      <p:ext uri="{BB962C8B-B14F-4D97-AF65-F5344CB8AC3E}">
        <p14:creationId xmlns:p14="http://schemas.microsoft.com/office/powerpoint/2010/main" val="205953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8673D0B-FFF5-534B-9189-D53412EB43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837"/>
          <a:stretch/>
        </p:blipFill>
        <p:spPr>
          <a:xfrm>
            <a:off x="5147188" y="245650"/>
            <a:ext cx="2093288" cy="448120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CDA77-2225-2198-D5B5-F6F24A329D1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F7AACF-7B13-EDA2-E212-8BE3DDFA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Framework</a:t>
            </a:r>
            <a:br>
              <a:rPr lang="en-IN" dirty="0"/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FDFCFC-B6D8-95E2-EEEB-3E05F7467D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IN" dirty="0"/>
              <a:t>We use a pipeline involving data collection, preprocessing, augmentation, and deep learning classification. Models used: EfficientNet-B7, ResNet50, VGG19, Alex Net. Dataset includes five classes: Esotropia, Exotropia, Hypertropia, Hypotropia, Normal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B7488-3C80-8F3A-24ED-B4A768D2B397}"/>
              </a:ext>
            </a:extLst>
          </p:cNvPr>
          <p:cNvSpPr txBox="1"/>
          <p:nvPr/>
        </p:nvSpPr>
        <p:spPr>
          <a:xfrm>
            <a:off x="5530645" y="4693674"/>
            <a:ext cx="1504336" cy="6636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600" dirty="0"/>
              <a:t>Fig; </a:t>
            </a:r>
            <a:r>
              <a:rPr lang="en-IN" sz="600" dirty="0" err="1"/>
              <a:t>Piepleline</a:t>
            </a:r>
            <a:r>
              <a:rPr lang="en-IN" sz="600" dirty="0"/>
              <a:t> &amp; </a:t>
            </a:r>
            <a:r>
              <a:rPr lang="en-IN" sz="600" dirty="0" err="1"/>
              <a:t>Propesed</a:t>
            </a:r>
            <a:r>
              <a:rPr lang="en-IN" sz="600" dirty="0"/>
              <a:t> Framework</a:t>
            </a:r>
          </a:p>
        </p:txBody>
      </p:sp>
    </p:spTree>
    <p:extLst>
      <p:ext uri="{BB962C8B-B14F-4D97-AF65-F5344CB8AC3E}">
        <p14:creationId xmlns:p14="http://schemas.microsoft.com/office/powerpoint/2010/main" val="238172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4C2860-93B4-E742-E752-1A0EE31379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62115-65F2-269D-E540-478D611604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Data from open-source sources like Kaggle and GitHub. Preprocessing steps: Auto-orientation, resizing (227x227), denoising. Split into training (70%), validation (15%), test (15%).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736EB-E24D-AEA4-B8EC-44A4B8E6EBD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00320C-B927-1CD1-EC40-16FF9C1C58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2BD865-FC94-452A-B98E-9AB4C870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&amp;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68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A51366-39C2-5AC8-D1F5-E3C026CAE3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2000" y="963233"/>
            <a:ext cx="4254500" cy="1183282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8BA68-9474-F86A-15F0-75A4DBBC5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Grayscale conversion</a:t>
            </a:r>
          </a:p>
          <a:p>
            <a:r>
              <a:rPr lang="en-US" sz="2800" dirty="0"/>
              <a:t>- Horizontal flipping</a:t>
            </a:r>
          </a:p>
          <a:p>
            <a:r>
              <a:rPr lang="en-US" sz="2800" dirty="0"/>
              <a:t>- Brightness adjustment</a:t>
            </a:r>
          </a:p>
          <a:p>
            <a:r>
              <a:rPr lang="en-US" sz="2800" dirty="0"/>
              <a:t>- Contrast variation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A5FA3-2B19-08C7-D72F-EA04EC2E58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EECFDD9-3D6A-65C0-9EA3-F568CC1C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Augmentation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BE9698-A38E-D5FC-4599-BE70194D64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To avoid overfitting and improve robustness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40DD72-A1F1-8B12-97F2-2BC47DF5E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820" y="3635388"/>
            <a:ext cx="1762430" cy="490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FBDEC5-1648-D933-63D5-6D7A13614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31" y="3635388"/>
            <a:ext cx="1762432" cy="4901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10A614-CF36-A843-9030-EC8E2C5F8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880" y="2890951"/>
            <a:ext cx="1762431" cy="4901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BE1F29-50D7-027A-468C-CBA8C90FA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626" y="2890951"/>
            <a:ext cx="1762432" cy="490177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7D53B2-B4D7-99F2-349D-DB3B5A6E5CD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6699250" y="2146515"/>
            <a:ext cx="1525846" cy="74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3537F9-8E2A-9C20-7845-DE903A58C02B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5147842" y="2146515"/>
            <a:ext cx="1551408" cy="74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358716-D1EB-14F8-2F7F-BEE183CBCDA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699250" y="2146515"/>
            <a:ext cx="575842" cy="148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31E567-2CF0-8DB8-E25C-2FE34AF600F9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207656" y="2146515"/>
            <a:ext cx="491594" cy="1488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61A697E-5442-D4DF-0161-A963E0840AA6}"/>
              </a:ext>
            </a:extLst>
          </p:cNvPr>
          <p:cNvSpPr txBox="1"/>
          <p:nvPr/>
        </p:nvSpPr>
        <p:spPr>
          <a:xfrm>
            <a:off x="5295653" y="4118574"/>
            <a:ext cx="1466810" cy="753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1400" dirty="0"/>
              <a:t>Fig: Grayscale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3E0451-A99D-71B5-C964-AA9D29016B8A}"/>
              </a:ext>
            </a:extLst>
          </p:cNvPr>
          <p:cNvSpPr txBox="1"/>
          <p:nvPr/>
        </p:nvSpPr>
        <p:spPr>
          <a:xfrm>
            <a:off x="7144778" y="4111602"/>
            <a:ext cx="1466810" cy="753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1400" dirty="0"/>
              <a:t>Fig: Contrast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4357A4-38A2-72D5-93A8-DE813BA2C6F6}"/>
              </a:ext>
            </a:extLst>
          </p:cNvPr>
          <p:cNvSpPr txBox="1"/>
          <p:nvPr/>
        </p:nvSpPr>
        <p:spPr>
          <a:xfrm>
            <a:off x="4596642" y="3356120"/>
            <a:ext cx="1466810" cy="753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1400" dirty="0" err="1"/>
              <a:t>Fig:Flipped</a:t>
            </a:r>
            <a:endParaRPr lang="en-IN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FE5D2D-A63A-2D50-70CF-8FEAF0AED928}"/>
              </a:ext>
            </a:extLst>
          </p:cNvPr>
          <p:cNvSpPr txBox="1"/>
          <p:nvPr/>
        </p:nvSpPr>
        <p:spPr>
          <a:xfrm>
            <a:off x="7629094" y="3356120"/>
            <a:ext cx="1466810" cy="753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1400" dirty="0"/>
              <a:t>Fig: Brightness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518AC5-B594-6E22-1D0C-8F2B00C47CD6}"/>
              </a:ext>
            </a:extLst>
          </p:cNvPr>
          <p:cNvSpPr txBox="1"/>
          <p:nvPr/>
        </p:nvSpPr>
        <p:spPr>
          <a:xfrm>
            <a:off x="4963588" y="2096336"/>
            <a:ext cx="1466810" cy="7535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algn="l"/>
            <a:r>
              <a:rPr lang="en-IN" sz="1400" dirty="0"/>
              <a:t>Fig: Original</a:t>
            </a:r>
          </a:p>
        </p:txBody>
      </p:sp>
    </p:spTree>
    <p:extLst>
      <p:ext uri="{BB962C8B-B14F-4D97-AF65-F5344CB8AC3E}">
        <p14:creationId xmlns:p14="http://schemas.microsoft.com/office/powerpoint/2010/main" val="86999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F47BAA-91FE-AEB5-83C7-2BA3040C64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400" dirty="0"/>
              <a:t>- </a:t>
            </a:r>
            <a:r>
              <a:rPr lang="en-IN" sz="2400" b="1" dirty="0" err="1"/>
              <a:t>AlexNet</a:t>
            </a:r>
            <a:r>
              <a:rPr lang="en-IN" sz="2400" b="1" dirty="0"/>
              <a:t>: </a:t>
            </a:r>
            <a:r>
              <a:rPr lang="en-IN" sz="2400" dirty="0"/>
              <a:t>Lightweight, uses </a:t>
            </a:r>
            <a:r>
              <a:rPr lang="en-IN" sz="2400" dirty="0" err="1"/>
              <a:t>depthwise</a:t>
            </a:r>
            <a:r>
              <a:rPr lang="en-IN" sz="2400" dirty="0"/>
              <a:t> conv and mixed precision.</a:t>
            </a:r>
          </a:p>
          <a:p>
            <a:r>
              <a:rPr lang="en-IN" sz="2400" dirty="0"/>
              <a:t>- </a:t>
            </a:r>
            <a:r>
              <a:rPr lang="en-IN" sz="2400" b="1" dirty="0"/>
              <a:t>VGG19: </a:t>
            </a:r>
            <a:r>
              <a:rPr lang="en-IN" sz="2400" dirty="0"/>
              <a:t>Progressive unfreezing, dropout, batch norm.</a:t>
            </a:r>
          </a:p>
          <a:p>
            <a:r>
              <a:rPr lang="en-IN" sz="2400" dirty="0"/>
              <a:t>- </a:t>
            </a:r>
            <a:r>
              <a:rPr lang="en-IN" sz="2400" b="1" dirty="0"/>
              <a:t>ResNet50: </a:t>
            </a:r>
            <a:r>
              <a:rPr lang="en-IN" sz="2400" dirty="0"/>
              <a:t>Last 75 layers unfrozen, </a:t>
            </a:r>
            <a:r>
              <a:rPr lang="en-IN" sz="2400" dirty="0" err="1"/>
              <a:t>ReLU</a:t>
            </a:r>
            <a:r>
              <a:rPr lang="en-IN" sz="2400" dirty="0"/>
              <a:t>, </a:t>
            </a:r>
            <a:r>
              <a:rPr lang="en-IN" sz="2400" dirty="0" err="1"/>
              <a:t>softmax</a:t>
            </a:r>
            <a:r>
              <a:rPr lang="en-IN" sz="2400" dirty="0"/>
              <a:t>.</a:t>
            </a:r>
          </a:p>
          <a:p>
            <a:r>
              <a:rPr lang="en-IN" sz="2400" dirty="0"/>
              <a:t>- </a:t>
            </a:r>
            <a:r>
              <a:rPr lang="en-IN" sz="2400" b="1" dirty="0"/>
              <a:t>EfficientNetB7: </a:t>
            </a:r>
            <a:r>
              <a:rPr lang="en-IN" sz="2400" dirty="0"/>
              <a:t>Best performer, last 30 layers unfrozen, weight decay regularization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B1A4E-FF75-409D-8116-128A02645BD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5EC1D7-DEA6-C067-7066-A7862097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A4B5D9-475C-8603-0AEA-6FE57957D7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Four CNNs were used</a:t>
            </a:r>
            <a:endParaRPr lang="en-US" dirty="0"/>
          </a:p>
        </p:txBody>
      </p:sp>
      <p:pic>
        <p:nvPicPr>
          <p:cNvPr id="8" name="Content Placeholder 10">
            <a:extLst>
              <a:ext uri="{FF2B5EF4-FFF2-40B4-BE49-F238E27FC236}">
                <a16:creationId xmlns:a16="http://schemas.microsoft.com/office/drawing/2014/main" id="{C682B812-2322-B176-6FAA-B1974F2E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6" t="67382" r="48854" b="22864"/>
          <a:stretch/>
        </p:blipFill>
        <p:spPr>
          <a:xfrm>
            <a:off x="5990715" y="1040077"/>
            <a:ext cx="1825931" cy="958646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1D97FF5-D55D-302E-2BC8-EB1302AD5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56" t="67382" r="6294" b="22864"/>
          <a:stretch/>
        </p:blipFill>
        <p:spPr>
          <a:xfrm>
            <a:off x="5947885" y="2571750"/>
            <a:ext cx="1911590" cy="958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10BCD5-858F-9AD3-D0AA-6EC278D831A8}"/>
              </a:ext>
            </a:extLst>
          </p:cNvPr>
          <p:cNvSpPr txBox="1"/>
          <p:nvPr/>
        </p:nvSpPr>
        <p:spPr>
          <a:xfrm>
            <a:off x="5990715" y="2123768"/>
            <a:ext cx="1868760" cy="204245"/>
          </a:xfrm>
          <a:prstGeom prst="rect">
            <a:avLst/>
          </a:prstGeom>
        </p:spPr>
        <p:txBody>
          <a:bodyPr wrap="square" rtlCol="0">
            <a:normAutofit fontScale="40000" lnSpcReduction="20000"/>
          </a:bodyPr>
          <a:lstStyle/>
          <a:p>
            <a:pPr algn="l"/>
            <a:r>
              <a:rPr lang="en-IN" dirty="0"/>
              <a:t>Fig1: Classification With </a:t>
            </a:r>
            <a:r>
              <a:rPr lang="en-IN" dirty="0" err="1"/>
              <a:t>Alexnet</a:t>
            </a:r>
            <a:r>
              <a:rPr lang="en-IN" dirty="0"/>
              <a:t> &amp; VggNet19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989C64-6156-0DD0-DB27-2A94801363D8}"/>
              </a:ext>
            </a:extLst>
          </p:cNvPr>
          <p:cNvSpPr txBox="1"/>
          <p:nvPr/>
        </p:nvSpPr>
        <p:spPr>
          <a:xfrm>
            <a:off x="5969299" y="3654929"/>
            <a:ext cx="2075946" cy="260768"/>
          </a:xfrm>
          <a:prstGeom prst="rect">
            <a:avLst/>
          </a:prstGeom>
        </p:spPr>
        <p:txBody>
          <a:bodyPr wrap="square" rtlCol="0">
            <a:normAutofit fontScale="40000" lnSpcReduction="20000"/>
          </a:bodyPr>
          <a:lstStyle/>
          <a:p>
            <a:pPr algn="l"/>
            <a:r>
              <a:rPr lang="en-IN" dirty="0"/>
              <a:t>Fig1: Classification With ResNet50  &amp; EfficientNetB7</a:t>
            </a:r>
          </a:p>
        </p:txBody>
      </p:sp>
    </p:spTree>
    <p:extLst>
      <p:ext uri="{BB962C8B-B14F-4D97-AF65-F5344CB8AC3E}">
        <p14:creationId xmlns:p14="http://schemas.microsoft.com/office/powerpoint/2010/main" val="77304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7EB6-A630-AF6F-3DFF-FDEFFED578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3985F6D-6A6A-5982-33A5-4CA2FA347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- Model Comparison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859E3-058E-D3A3-AFB7-7D29D13A2E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071" y="752805"/>
            <a:ext cx="8043230" cy="287784"/>
          </a:xfrm>
        </p:spPr>
        <p:txBody>
          <a:bodyPr/>
          <a:lstStyle/>
          <a:p>
            <a:r>
              <a:rPr lang="en-IN" sz="1600" dirty="0"/>
              <a:t>EfficientNetB7: Accuracy 84.00%, Precision 85.00%, Recall 83.00%, F1 84.40%</a:t>
            </a:r>
          </a:p>
          <a:p>
            <a:r>
              <a:rPr lang="en-IN" sz="1600" dirty="0"/>
              <a:t>ResNet50: 74.00%, 79.00%, 73.00%, 74.00%</a:t>
            </a:r>
          </a:p>
          <a:p>
            <a:r>
              <a:rPr lang="en-IN" sz="1600" dirty="0"/>
              <a:t>VGG19: 66.67%, 67.45%, 66.67%, 67.00%</a:t>
            </a:r>
          </a:p>
          <a:p>
            <a:r>
              <a:rPr lang="en-IN" sz="1600" dirty="0" err="1"/>
              <a:t>AlexNet</a:t>
            </a:r>
            <a:r>
              <a:rPr lang="en-IN" sz="1600" dirty="0"/>
              <a:t>: 59.26%, 58.88%, 59.26%, 58.71%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EA8846D-B3D1-1DCE-5535-7D8760C5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440"/>
            <a:ext cx="2455021" cy="214212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CBF813-2CFE-CBAB-1E09-DB887C189B96}"/>
              </a:ext>
            </a:extLst>
          </p:cNvPr>
          <p:cNvSpPr txBox="1"/>
          <p:nvPr/>
        </p:nvSpPr>
        <p:spPr>
          <a:xfrm>
            <a:off x="609600" y="4601052"/>
            <a:ext cx="1645920" cy="205740"/>
          </a:xfrm>
          <a:prstGeom prst="rect">
            <a:avLst/>
          </a:prstGeom>
        </p:spPr>
        <p:txBody>
          <a:bodyPr wrap="square" rtlCol="0">
            <a:normAutofit fontScale="47500" lnSpcReduction="20000"/>
          </a:bodyPr>
          <a:lstStyle/>
          <a:p>
            <a:pPr algn="l"/>
            <a:r>
              <a:rPr lang="en-IN" dirty="0"/>
              <a:t>Fig: Precision Radar Graph</a:t>
            </a:r>
          </a:p>
          <a:p>
            <a:pPr algn="l"/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5490E2D-C915-BF09-254E-0A91203D2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224" y="2377440"/>
            <a:ext cx="2455020" cy="214212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34AB5C-F2B4-727A-CD9A-14EB4FB346F0}"/>
              </a:ext>
            </a:extLst>
          </p:cNvPr>
          <p:cNvSpPr txBox="1"/>
          <p:nvPr/>
        </p:nvSpPr>
        <p:spPr>
          <a:xfrm>
            <a:off x="3093720" y="4601052"/>
            <a:ext cx="1645920" cy="205740"/>
          </a:xfrm>
          <a:prstGeom prst="rect">
            <a:avLst/>
          </a:prstGeom>
        </p:spPr>
        <p:txBody>
          <a:bodyPr wrap="square" rtlCol="0">
            <a:normAutofit fontScale="47500" lnSpcReduction="20000"/>
          </a:bodyPr>
          <a:lstStyle/>
          <a:p>
            <a:pPr algn="l"/>
            <a:r>
              <a:rPr lang="en-IN" dirty="0"/>
              <a:t>Fig: Accuracy Radar Graph</a:t>
            </a:r>
          </a:p>
          <a:p>
            <a:pPr algn="l"/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ADB3E31-1BF1-279D-EF6F-E08CF41D9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6448" y="2377441"/>
            <a:ext cx="2455019" cy="21421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0CC175F-019A-0E91-DC7D-3EBBC9AFC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841" y="463802"/>
            <a:ext cx="2193160" cy="191363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903EEB7-AE0F-F042-62B2-283D01525ADC}"/>
              </a:ext>
            </a:extLst>
          </p:cNvPr>
          <p:cNvSpPr txBox="1"/>
          <p:nvPr/>
        </p:nvSpPr>
        <p:spPr>
          <a:xfrm>
            <a:off x="5798820" y="4601052"/>
            <a:ext cx="1645920" cy="205740"/>
          </a:xfrm>
          <a:prstGeom prst="rect">
            <a:avLst/>
          </a:prstGeom>
        </p:spPr>
        <p:txBody>
          <a:bodyPr wrap="square" rtlCol="0">
            <a:normAutofit fontScale="47500" lnSpcReduction="20000"/>
          </a:bodyPr>
          <a:lstStyle/>
          <a:p>
            <a:pPr algn="l"/>
            <a:r>
              <a:rPr lang="en-IN" dirty="0"/>
              <a:t>Fig: Recall Radar Graph</a:t>
            </a:r>
          </a:p>
          <a:p>
            <a:pPr algn="l"/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85047C-8A01-9ED2-964F-2510168305DE}"/>
              </a:ext>
            </a:extLst>
          </p:cNvPr>
          <p:cNvSpPr txBox="1"/>
          <p:nvPr/>
        </p:nvSpPr>
        <p:spPr>
          <a:xfrm>
            <a:off x="7121574" y="2411285"/>
            <a:ext cx="1645920" cy="205740"/>
          </a:xfrm>
          <a:prstGeom prst="rect">
            <a:avLst/>
          </a:prstGeom>
        </p:spPr>
        <p:txBody>
          <a:bodyPr wrap="square" rtlCol="0">
            <a:normAutofit fontScale="47500" lnSpcReduction="20000"/>
          </a:bodyPr>
          <a:lstStyle/>
          <a:p>
            <a:pPr algn="l"/>
            <a:r>
              <a:rPr lang="en-IN" dirty="0"/>
              <a:t>Fig: F1-Score Radar Graph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42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5A2A5-5B82-9333-6E49-B7857E146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65BAC0-33D3-9C75-A054-E5374967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 - </a:t>
            </a:r>
            <a:r>
              <a:rPr lang="en-IN" dirty="0" err="1"/>
              <a:t>AlexNet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742889-96F8-6B13-AEA2-CB6E0572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992" y="890859"/>
            <a:ext cx="5428016" cy="39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49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5ABB4-A373-5F84-440A-BB3E162C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8F53D-F184-0225-D975-ADA7D1D430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60A350-110A-95C0-D2A2-66AC37B37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 - VGGNet-19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1A88F-69EC-33EE-0544-D7F956130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365" y="671319"/>
            <a:ext cx="5612559" cy="420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63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F9FF3-762B-8775-F270-B45969B8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A0F92-9D84-E815-DE4B-3EB99F46AB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956FD1-B3A8-90DF-AB47-F9CD6FBC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 – ResNet50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5A9D67-1D2D-C372-2443-DF881EB1A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792956"/>
            <a:ext cx="5375868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2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791C-C534-19E2-7E32-76D5DACB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F58CD-FD6B-BA8A-CB17-58AA42AF808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8E7CEB-EEB4-A7A2-65EA-02B7B0BC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Confusion Matrix – EfficientNetB7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CF1E6-E96C-63F3-9338-77A8532B9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312" y="706906"/>
            <a:ext cx="5641376" cy="414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87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B28F7C-29F9-1376-C08F-BC2F94F3DF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EfficientNetB7 showed best results for multi-class strabismus classification. This automated system aids ophthalmologists with consistent, accurate predictions.</a:t>
            </a:r>
          </a:p>
          <a:p>
            <a:r>
              <a:rPr lang="en-US" sz="2200" dirty="0"/>
              <a:t>Future: Expand dataset, add explainability, test real-time deployment.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E6572-FFD0-FA36-1B5B-3BA50E337E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570" y="3129830"/>
            <a:ext cx="4235466" cy="763411"/>
          </a:xfrm>
        </p:spPr>
        <p:txBody>
          <a:bodyPr/>
          <a:lstStyle/>
          <a:p>
            <a:r>
              <a:rPr lang="en-US" sz="1400" dirty="0"/>
              <a:t>Fig: Eval Matrices For Different CV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9F809-F287-9306-A15B-797C948148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AB8952-90B0-2C8F-6090-E92B2F64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62270D-E907-BB7C-A22B-772CF5A7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94" t="1899" r="5370"/>
          <a:stretch/>
        </p:blipFill>
        <p:spPr>
          <a:xfrm>
            <a:off x="129384" y="1450971"/>
            <a:ext cx="4541277" cy="168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41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B21FF0-FC51-2BD2-1F20-E29BB4097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CB58AA-6908-CA62-BDEF-C8D70D230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E4EFC-3BF2-8CEF-896F-9DDF262B5D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2288" y="712914"/>
            <a:ext cx="8658713" cy="329802"/>
          </a:xfrm>
        </p:spPr>
        <p:txBody>
          <a:bodyPr/>
          <a:lstStyle/>
          <a:p>
            <a:r>
              <a:rPr lang="en-US" sz="2400" dirty="0"/>
              <a:t>We thank Thapar Institute of Engineering and Technology for supporting this research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1156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-DCI-113_Branded_PPT_Template_B_Final_FullScreen" id="{42F2A728-38A7-F741-8697-F23A46403293}" vid="{291ADA43-C1E7-0449-827C-A2959B3E2C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586</Words>
  <Application>Microsoft Office PowerPoint</Application>
  <PresentationFormat>On-screen Show (16:9)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LucidaGrande</vt:lpstr>
      <vt:lpstr>NimbusRomNo9L-Regu</vt:lpstr>
      <vt:lpstr>Wingdings</vt:lpstr>
      <vt:lpstr>Theme 1</vt:lpstr>
      <vt:lpstr>Paper Id 1140:  Enhancing Strabismus Diagnosis: from Detection to Classification with Deep Learning</vt:lpstr>
      <vt:lpstr>Abstract</vt:lpstr>
      <vt:lpstr>Introduction</vt:lpstr>
      <vt:lpstr>Problem Statement</vt:lpstr>
      <vt:lpstr>Literature Review</vt:lpstr>
      <vt:lpstr>Proposed Framework </vt:lpstr>
      <vt:lpstr>Data Collection &amp; Preprocessing</vt:lpstr>
      <vt:lpstr>Data Augmentation</vt:lpstr>
      <vt:lpstr>Model Architectures</vt:lpstr>
      <vt:lpstr>Results - Model Comparison</vt:lpstr>
      <vt:lpstr>Confusion Matrix - AlexNet</vt:lpstr>
      <vt:lpstr>Confusion Matrix - VGGNet-19</vt:lpstr>
      <vt:lpstr>Confusion Matrix – ResNet50</vt:lpstr>
      <vt:lpstr>Confusion Matrix – EfficientNetB7</vt:lpstr>
      <vt:lpstr>Conclusion &amp; Future Work</vt:lpstr>
      <vt:lpstr>Acknowledgment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Bhumit Gupta</cp:lastModifiedBy>
  <cp:revision>152</cp:revision>
  <dcterms:created xsi:type="dcterms:W3CDTF">2016-10-24T19:40:55Z</dcterms:created>
  <dcterms:modified xsi:type="dcterms:W3CDTF">2025-04-29T08:31:53Z</dcterms:modified>
</cp:coreProperties>
</file>